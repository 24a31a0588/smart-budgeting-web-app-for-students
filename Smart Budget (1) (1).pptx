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32720" y="1767960"/>
            <a:ext cx="4380120" cy="1856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976640" y="962280"/>
            <a:ext cx="3585600" cy="3177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85000"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20000" y="1221120"/>
            <a:ext cx="426780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436360" y="480960"/>
            <a:ext cx="3119760" cy="4181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3715920" cy="1287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2424600" y="507240"/>
            <a:ext cx="4294440" cy="1051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7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" name="Google Shape;145;p26"/>
          <p:cNvSpPr/>
          <p:nvPr/>
        </p:nvSpPr>
        <p:spPr>
          <a:xfrm>
            <a:off x="2378520" y="3566520"/>
            <a:ext cx="4386600" cy="61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b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CREDITS: This presentation template was created by </a:t>
            </a:r>
            <a:r>
              <a:rPr lang="en" sz="1000" b="0" u="sng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, including icons, infographics &amp; images by </a:t>
            </a:r>
            <a:r>
              <a:rPr lang="en" sz="1000" b="0" u="sng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  <a:hlinkClick r:id="rId3"/>
              </a:rPr>
              <a:t>Freepik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720000" y="1287720"/>
            <a:ext cx="7703640" cy="3344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57;p31" title="lifestyle-woman-office.jpg"/>
          <p:cNvSpPr/>
          <p:nvPr/>
        </p:nvSpPr>
        <p:spPr>
          <a:xfrm>
            <a:off x="4976640" y="962280"/>
            <a:ext cx="3585600" cy="3177720"/>
          </a:xfrm>
          <a:prstGeom prst="roundRect">
            <a:avLst>
              <a:gd name="adj" fmla="val 4753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28760" y="1771560"/>
            <a:ext cx="4381200" cy="1856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95000"/>
              </a:lnSpc>
              <a:buNone/>
              <a:tabLst>
                <a:tab pos="0" algn="l"/>
              </a:tabLst>
            </a:pPr>
            <a:r>
              <a:rPr lang="en-US" sz="3500" b="1" u="none" strike="noStrike">
                <a:solidFill>
                  <a:schemeClr val="dk1"/>
                </a:solidFill>
                <a:effectLst/>
                <a:uFillTx/>
                <a:latin typeface="Poppins SemiBold"/>
                <a:ea typeface="Poppins SemiBold"/>
              </a:rPr>
              <a:t>Smart </a:t>
            </a:r>
            <a:r>
              <a:rPr lang="en-US" sz="4500" b="1" u="none" strike="noStrike">
                <a:solidFill>
                  <a:schemeClr val="dk1"/>
                </a:solidFill>
                <a:effectLst/>
                <a:uFillTx/>
                <a:latin typeface="Poppins SemiBold"/>
                <a:ea typeface="Poppins SemiBold"/>
              </a:rPr>
              <a:t>Budget 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ubTitle"/>
          </p:nvPr>
        </p:nvSpPr>
        <p:spPr>
          <a:xfrm>
            <a:off x="428760" y="3819600"/>
            <a:ext cx="4381200" cy="399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9999"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Track Smart, Spend Wise — Personal finance made simple.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5" name="Google Shape;160;p31"/>
          <p:cNvGrpSpPr/>
          <p:nvPr/>
        </p:nvGrpSpPr>
        <p:grpSpPr>
          <a:xfrm>
            <a:off x="4096080" y="981000"/>
            <a:ext cx="591840" cy="591840"/>
            <a:chOff x="4096080" y="981000"/>
            <a:chExt cx="591840" cy="591840"/>
          </a:xfrm>
        </p:grpSpPr>
        <p:sp>
          <p:nvSpPr>
            <p:cNvPr id="16" name="Google Shape;161;p31"/>
            <p:cNvSpPr/>
            <p:nvPr/>
          </p:nvSpPr>
          <p:spPr>
            <a:xfrm>
              <a:off x="4096080" y="981000"/>
              <a:ext cx="591840" cy="591840"/>
            </a:xfrm>
            <a:prstGeom prst="blockArc">
              <a:avLst>
                <a:gd name="adj1" fmla="val 232"/>
                <a:gd name="adj2" fmla="val 16200929"/>
                <a:gd name="adj3" fmla="val 23958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" name="Google Shape;162;p31"/>
            <p:cNvSpPr/>
            <p:nvPr/>
          </p:nvSpPr>
          <p:spPr>
            <a:xfrm>
              <a:off x="4539960" y="1068840"/>
              <a:ext cx="147600" cy="14760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2200" bIns="52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210;p36" title="person-drinking-beverage-while-break-time.jpg"/>
          <p:cNvSpPr/>
          <p:nvPr/>
        </p:nvSpPr>
        <p:spPr>
          <a:xfrm>
            <a:off x="5436360" y="480960"/>
            <a:ext cx="3119760" cy="4181040"/>
          </a:xfrm>
          <a:prstGeom prst="roundRect">
            <a:avLst>
              <a:gd name="adj" fmla="val 4230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3960" y="1219320"/>
            <a:ext cx="426672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2500" lnSpcReduction="9999"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Poppins SemiBold"/>
                <a:ea typeface="Poppins SemiBold"/>
              </a:rPr>
              <a:t>Introduction</a:t>
            </a:r>
            <a:endParaRPr lang="fr-FR" sz="5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ubTitle"/>
          </p:nvPr>
        </p:nvSpPr>
        <p:spPr>
          <a:xfrm>
            <a:off x="723960" y="2238480"/>
            <a:ext cx="4266720" cy="1685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70000" lnSpcReduction="19999"/>
          </a:bodyPr>
          <a:lstStyle/>
          <a:p>
            <a:pPr indent="0" algn="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Take control of your finances with </a:t>
            </a:r>
            <a:r>
              <a:rPr lang="en-US" sz="1800" b="0" i="1" u="none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Track Smart, Spend Wise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. This web app makes budgeting effortless and motivating for students and professionals alike.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r">
              <a:lnSpc>
                <a:spcPct val="150000"/>
              </a:lnSpc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Receive clear insights, set goals, and build lasting saving habits with an intuitive dashboard and smart alerts.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1" name="Google Shape;213;p36"/>
          <p:cNvGrpSpPr/>
          <p:nvPr/>
        </p:nvGrpSpPr>
        <p:grpSpPr>
          <a:xfrm>
            <a:off x="6378120" y="2085840"/>
            <a:ext cx="971640" cy="971640"/>
            <a:chOff x="6378120" y="2085840"/>
            <a:chExt cx="971640" cy="971640"/>
          </a:xfrm>
        </p:grpSpPr>
        <p:sp>
          <p:nvSpPr>
            <p:cNvPr id="22" name="Google Shape;214;p36"/>
            <p:cNvSpPr/>
            <p:nvPr/>
          </p:nvSpPr>
          <p:spPr>
            <a:xfrm>
              <a:off x="6378120" y="2085840"/>
              <a:ext cx="971640" cy="971640"/>
            </a:xfrm>
            <a:prstGeom prst="blockArc">
              <a:avLst>
                <a:gd name="adj1" fmla="val 232"/>
                <a:gd name="adj2" fmla="val 16200929"/>
                <a:gd name="adj3" fmla="val 23958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" name="Google Shape;215;p36"/>
            <p:cNvSpPr/>
            <p:nvPr/>
          </p:nvSpPr>
          <p:spPr>
            <a:xfrm>
              <a:off x="7107120" y="2229840"/>
              <a:ext cx="242640" cy="242640"/>
            </a:xfrm>
            <a:prstGeom prst="ellipse">
              <a:avLst/>
            </a:prstGeom>
            <a:solidFill>
              <a:schemeClr val="lt1"/>
            </a:solidFill>
            <a:ln w="9525">
              <a:solidFill>
                <a:srgbClr val="D9D9D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040" bIns="86040" anchor="ctr">
              <a:noAutofit/>
            </a:bodyPr>
            <a:lstStyle/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Poppins SemiBold"/>
              </a:rPr>
              <a:t>Expense Tracking Gap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19200" y="1905120"/>
            <a:ext cx="7905240" cy="261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Many users lack a simple way to log daily finances, leading to unclear spending patterns.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This app provides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Lato"/>
              </a:rPr>
              <a:t>automatic tracking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, categorized entries, and visual reports to reveal where money goes and reclaim financial clarity.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3714480" cy="1285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Poppins SemiBold"/>
                <a:ea typeface="Poppins SemiBold"/>
              </a:rPr>
              <a:t>Overspending Risks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ubTitle"/>
          </p:nvPr>
        </p:nvSpPr>
        <p:spPr>
          <a:xfrm>
            <a:off x="723960" y="1990800"/>
            <a:ext cx="7667280" cy="253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Unmonitored expenses quickly erode savings and cause stress.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Set budgets, get 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overspend alerts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, and follow personalized suggestions to stop leakage and boost long-term financial confidence.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619200" y="619200"/>
            <a:ext cx="3476160" cy="80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Poppins SemiBold"/>
              </a:rPr>
              <a:t>Saving Difficulties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19200" y="1905120"/>
            <a:ext cx="3476160" cy="261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Many struggle to build savings due to irregular tracking and small unnoticed expenses.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Offer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Lato"/>
              </a:rPr>
              <a:t>clear goals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, simple tracking, and gentle nudges to transform habits into lasting savings. Emphasize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Lato"/>
              </a:rPr>
              <a:t>consistent progress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 over perfection.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0" name="image69efc6292e7cf" descr="image69efc6292e7d3"/>
          <p:cNvSpPr/>
          <p:nvPr/>
        </p:nvSpPr>
        <p:spPr>
          <a:xfrm>
            <a:off x="4800600" y="257040"/>
            <a:ext cx="4114440" cy="4628880"/>
          </a:xfrm>
          <a:prstGeom prst="roundRect">
            <a:avLst>
              <a:gd name="adj" fmla="val 16667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619200" y="619200"/>
            <a:ext cx="2142720" cy="80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01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19200" y="1428840"/>
            <a:ext cx="347616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Poppins SemiBold"/>
              </a:rPr>
              <a:t>Solution &amp; Benefits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3" name="image69efc6293957a" descr="image69efc6293957f"/>
          <p:cNvSpPr/>
          <p:nvPr/>
        </p:nvSpPr>
        <p:spPr>
          <a:xfrm>
            <a:off x="4800600" y="257040"/>
            <a:ext cx="4114440" cy="4628880"/>
          </a:xfrm>
          <a:prstGeom prst="roundRect">
            <a:avLst>
              <a:gd name="adj" fmla="val 16667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Poppins SemiBold"/>
              </a:rPr>
              <a:t>Intuitive Dashboard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19200" y="1905120"/>
            <a:ext cx="7905240" cy="261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A clean, visual dashboard shows income, expenses, and balances at a glance.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Users quickly spot trends, set budgets, and act—making better choices with minimal effort and maximum clarity.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210;p36" title="person-drinking-beverage-while-break-time.jpg"/>
          <p:cNvSpPr/>
          <p:nvPr/>
        </p:nvSpPr>
        <p:spPr>
          <a:xfrm>
            <a:off x="5436360" y="480960"/>
            <a:ext cx="3119760" cy="4181040"/>
          </a:xfrm>
          <a:prstGeom prst="roundRect">
            <a:avLst>
              <a:gd name="adj" fmla="val 4230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723960" y="1219320"/>
            <a:ext cx="426672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2500" lnSpcReduction="9999"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Poppins SemiBold"/>
                <a:ea typeface="Poppins SemiBold"/>
              </a:rPr>
              <a:t>Automated Insights</a:t>
            </a:r>
            <a:endParaRPr lang="fr-FR" sz="5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subTitle"/>
          </p:nvPr>
        </p:nvSpPr>
        <p:spPr>
          <a:xfrm>
            <a:off x="723960" y="2238480"/>
            <a:ext cx="4266720" cy="1685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19999"/>
          </a:bodyPr>
          <a:lstStyle/>
          <a:p>
            <a:pPr indent="0" algn="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Smart algorithms categorize transactions and highlight anomalies automatically.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r">
              <a:lnSpc>
                <a:spcPct val="150000"/>
              </a:lnSpc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Receive 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actionable tips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 and timely alerts to prevent overspending and capitalize on saving opportunities.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9" name="Google Shape;213;p36"/>
          <p:cNvGrpSpPr/>
          <p:nvPr/>
        </p:nvGrpSpPr>
        <p:grpSpPr>
          <a:xfrm>
            <a:off x="6378120" y="2085840"/>
            <a:ext cx="971640" cy="971640"/>
            <a:chOff x="6378120" y="2085840"/>
            <a:chExt cx="971640" cy="971640"/>
          </a:xfrm>
        </p:grpSpPr>
        <p:sp>
          <p:nvSpPr>
            <p:cNvPr id="40" name="Google Shape;214;p36"/>
            <p:cNvSpPr/>
            <p:nvPr/>
          </p:nvSpPr>
          <p:spPr>
            <a:xfrm>
              <a:off x="6378120" y="2085840"/>
              <a:ext cx="971640" cy="971640"/>
            </a:xfrm>
            <a:prstGeom prst="blockArc">
              <a:avLst>
                <a:gd name="adj1" fmla="val 232"/>
                <a:gd name="adj2" fmla="val 16200929"/>
                <a:gd name="adj3" fmla="val 23958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" name="Google Shape;215;p36"/>
            <p:cNvSpPr/>
            <p:nvPr/>
          </p:nvSpPr>
          <p:spPr>
            <a:xfrm>
              <a:off x="7107120" y="2229840"/>
              <a:ext cx="242640" cy="242640"/>
            </a:xfrm>
            <a:prstGeom prst="ellipse">
              <a:avLst/>
            </a:prstGeom>
            <a:solidFill>
              <a:schemeClr val="lt1"/>
            </a:solidFill>
            <a:ln w="9525">
              <a:solidFill>
                <a:srgbClr val="D9D9D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040" bIns="86040" anchor="ctr">
              <a:noAutofit/>
            </a:bodyPr>
            <a:lstStyle/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3714480" cy="1285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Poppins SemiBold"/>
                <a:ea typeface="Poppins SemiBold"/>
              </a:rPr>
              <a:t>Long-term Savings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723960" y="1990800"/>
            <a:ext cx="7667280" cy="253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Turn short-term habits into enduring wealth with goal tracking and progress milestones.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Celebrate wins, adjust plans, and watch small changes compound into significant financial security.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3714480" cy="1285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Poppins SemiBold"/>
                <a:ea typeface="Poppins SemiBold"/>
              </a:rPr>
              <a:t>Conclusions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723960" y="1990800"/>
            <a:ext cx="7667280" cy="253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Empower users to control money, reduce stress, and build a secure future.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With intuitive tools, automated insights, and goal-focused features, the app converts intention into 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real financial progress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-">
  <a:themeElements>
    <a:clrScheme name="Simple Light">
      <a:dk1>
        <a:srgbClr val="000000"/>
      </a:dk1>
      <a:lt1>
        <a:srgbClr val="FFFFFF"/>
      </a:lt1>
      <a:dk2>
        <a:srgbClr val="D9D9D9"/>
      </a:dk2>
      <a:lt2>
        <a:srgbClr val="F3F3F3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308</Words>
  <Application>Microsoft Office PowerPoint</Application>
  <PresentationFormat>On-screen Show (16:9)</PresentationFormat>
  <Paragraphs>36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Lato</vt:lpstr>
      <vt:lpstr>OpenSymbol</vt:lpstr>
      <vt:lpstr>Poppins SemiBold</vt:lpstr>
      <vt:lpstr>Symbol</vt:lpstr>
      <vt:lpstr>Wingdings</vt:lpstr>
      <vt:lpstr>-</vt:lpstr>
      <vt:lpstr>Smart Budget </vt:lpstr>
      <vt:lpstr>Introduction</vt:lpstr>
      <vt:lpstr>PowerPoint Presentation</vt:lpstr>
      <vt:lpstr>Overspending Risks</vt:lpstr>
      <vt:lpstr>PowerPoint Presentation</vt:lpstr>
      <vt:lpstr>PowerPoint Presentation</vt:lpstr>
      <vt:lpstr>PowerPoint Presentation</vt:lpstr>
      <vt:lpstr>Automated Insights</vt:lpstr>
      <vt:lpstr>Long-term Savings</vt:lpstr>
      <vt:lpstr>Conclusions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Kumari Gollu</cp:lastModifiedBy>
  <cp:revision>1</cp:revision>
  <dcterms:modified xsi:type="dcterms:W3CDTF">2026-04-27T20:28:11Z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2026-04-27T20:25:12Z</dcterms:created>
  <dc:creator>Unknown Creator</dc:creator>
  <dc:description/>
  <dc:language>en-US</dc:language>
  <cp:lastModifiedBy>Unknown Creator</cp:lastModifiedBy>
  <dcterms:modified xsi:type="dcterms:W3CDTF">2026-04-27T20:25:12Z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11</vt:r8>
  </property>
</Properties>
</file>